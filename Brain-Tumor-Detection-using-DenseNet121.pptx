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embeddedFontLst>
    <p:embeddedFont>
      <p:font typeface="Inter"/>
      <p:regular r:id="rId9"/>
    </p:embeddedFont>
    <p:embeddedFont>
      <p:font typeface="Inter"/>
      <p:regular r:id="rId10"/>
    </p:embeddedFont>
    <p:embeddedFont>
      <p:font typeface="Inter"/>
      <p:regular r:id="rId11"/>
    </p:embeddedFont>
    <p:embeddedFont>
      <p:font typeface="Inter"/>
      <p:regular r:id="rId12"/>
    </p:embeddedFont>
    <p:embeddedFont>
      <p:font typeface="Manrope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3375" y="327571"/>
            <a:ext cx="4705424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Brain Tumor Detection using DenseNet121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333375" y="721221"/>
            <a:ext cx="504825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Deep Learning-based system that classifies brain MRI images into four categories using Transfer Learning, CNNs, and Attention Mechanisms.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333375" y="1047973"/>
            <a:ext cx="5048250" cy="514648"/>
          </a:xfrm>
          <a:prstGeom prst="roundRect">
            <a:avLst>
              <a:gd name="adj" fmla="val 1665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3388" y="1147986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Glioma Tumor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33388" y="1335212"/>
            <a:ext cx="484822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Aggressive brain tumor originating in glial cells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33375" y="1626617"/>
            <a:ext cx="5048250" cy="514648"/>
          </a:xfrm>
          <a:prstGeom prst="roundRect">
            <a:avLst>
              <a:gd name="adj" fmla="val 1665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3388" y="1726629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Meningioma Tumor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3388" y="1913855"/>
            <a:ext cx="484822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Tumor arising from the meninges surrounding the brain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33375" y="2205261"/>
            <a:ext cx="5048250" cy="514648"/>
          </a:xfrm>
          <a:prstGeom prst="roundRect">
            <a:avLst>
              <a:gd name="adj" fmla="val 1665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3388" y="2305273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Pituitary Tumor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33388" y="2492499"/>
            <a:ext cx="484822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Abnormal growth in the pituitary gland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33375" y="2783904"/>
            <a:ext cx="5048250" cy="514648"/>
          </a:xfrm>
          <a:prstGeom prst="roundRect">
            <a:avLst>
              <a:gd name="adj" fmla="val 16657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3388" y="2883917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Tumor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33388" y="3071143"/>
            <a:ext cx="4848225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Healthy MRI scan with no detected abnormality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33375" y="3434507"/>
            <a:ext cx="156485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Techniques Combined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3375" y="3647331"/>
            <a:ext cx="2407965" cy="85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Transfer Learning with DenseNet121 (pretrained on ImageNet)</a:t>
            </a:r>
            <a:endParaRPr lang="en-US" sz="7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Convolutional Neural Networks (CNN)</a:t>
            </a:r>
            <a:endParaRPr lang="en-US" sz="7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Self-Attention Block Integration</a:t>
            </a:r>
            <a:endParaRPr lang="en-US" sz="7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Batch Normalization &amp; Regularization</a:t>
            </a:r>
            <a:endParaRPr lang="en-US" sz="7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Quantization Approaches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978423" y="3434507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978423" y="3647331"/>
            <a:ext cx="2407965" cy="57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Python, TensorFlow, Keras</a:t>
            </a:r>
            <a:endParaRPr lang="en-US" sz="7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NumPy, OpenCV, Matplotlib</a:t>
            </a:r>
            <a:endParaRPr lang="en-US" sz="7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Seaborn, Scikit-learn</a:t>
            </a:r>
            <a:endParaRPr lang="en-US" sz="7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Jupyter Notebook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978423" y="4296073"/>
            <a:ext cx="2407965" cy="447824"/>
          </a:xfrm>
          <a:prstGeom prst="roundRect">
            <a:avLst>
              <a:gd name="adj" fmla="val 19143"/>
            </a:avLst>
          </a:prstGeom>
          <a:solidFill>
            <a:srgbClr val="B6D6FC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673" y="4427041"/>
            <a:ext cx="119062" cy="952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287985" y="4383881"/>
            <a:ext cx="2003152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Author: Sreelekshmi S N — Licensed under MIT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4890"/>
            <a:ext cx="28109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Architecture, Evaluation &amp; Results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531" y="705892"/>
            <a:ext cx="3118545" cy="17671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2776" y="504899"/>
            <a:ext cx="117239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Components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5422776" y="655439"/>
            <a:ext cx="1599381" cy="476994"/>
          </a:xfrm>
          <a:prstGeom prst="roundRect">
            <a:avLst>
              <a:gd name="adj" fmla="val 9585"/>
            </a:avLst>
          </a:prstGeom>
          <a:solidFill>
            <a:srgbClr val="FFFFFF"/>
          </a:solidFill>
          <a:ln w="9525">
            <a:solidFill>
              <a:srgbClr val="FF704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13251" y="655439"/>
            <a:ext cx="38100" cy="476994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7" name="Text 4"/>
          <p:cNvSpPr/>
          <p:nvPr/>
        </p:nvSpPr>
        <p:spPr>
          <a:xfrm>
            <a:off x="5531718" y="735806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DenseNet121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531718" y="881955"/>
            <a:ext cx="141007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Base model for deep feature extraction via transfer learning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5422776" y="1167854"/>
            <a:ext cx="1599381" cy="476994"/>
          </a:xfrm>
          <a:prstGeom prst="roundRect">
            <a:avLst>
              <a:gd name="adj" fmla="val 9585"/>
            </a:avLst>
          </a:prstGeom>
          <a:solidFill>
            <a:srgbClr val="FFFFFF"/>
          </a:solidFill>
          <a:ln w="9525">
            <a:solidFill>
              <a:srgbClr val="FF70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13251" y="1167854"/>
            <a:ext cx="38100" cy="476994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11" name="Text 8"/>
          <p:cNvSpPr/>
          <p:nvPr/>
        </p:nvSpPr>
        <p:spPr>
          <a:xfrm>
            <a:off x="5531718" y="1248221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Self-Attention Block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5531718" y="1394371"/>
            <a:ext cx="141007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Focuses on critical regions within MRI scans</a:t>
            </a:r>
            <a:endParaRPr lang="en-US" sz="550" dirty="0"/>
          </a:p>
        </p:txBody>
      </p:sp>
      <p:sp>
        <p:nvSpPr>
          <p:cNvPr id="13" name="Shape 10"/>
          <p:cNvSpPr/>
          <p:nvPr/>
        </p:nvSpPr>
        <p:spPr>
          <a:xfrm>
            <a:off x="5422776" y="1680270"/>
            <a:ext cx="1599381" cy="476994"/>
          </a:xfrm>
          <a:prstGeom prst="roundRect">
            <a:avLst>
              <a:gd name="adj" fmla="val 9585"/>
            </a:avLst>
          </a:prstGeom>
          <a:solidFill>
            <a:srgbClr val="FFFFFF"/>
          </a:solidFill>
          <a:ln w="9525">
            <a:solidFill>
              <a:srgbClr val="FF704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13251" y="1680270"/>
            <a:ext cx="38100" cy="476994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15" name="Text 12"/>
          <p:cNvSpPr/>
          <p:nvPr/>
        </p:nvSpPr>
        <p:spPr>
          <a:xfrm>
            <a:off x="5531718" y="1760637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Quantization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5531718" y="1906786"/>
            <a:ext cx="141007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Reduces computational complexity and optimizes the model</a:t>
            </a:r>
            <a:endParaRPr lang="en-US" sz="550" dirty="0"/>
          </a:p>
        </p:txBody>
      </p:sp>
      <p:sp>
        <p:nvSpPr>
          <p:cNvPr id="17" name="Shape 14"/>
          <p:cNvSpPr/>
          <p:nvPr/>
        </p:nvSpPr>
        <p:spPr>
          <a:xfrm>
            <a:off x="5422776" y="2192685"/>
            <a:ext cx="1599381" cy="476994"/>
          </a:xfrm>
          <a:prstGeom prst="roundRect">
            <a:avLst>
              <a:gd name="adj" fmla="val 9585"/>
            </a:avLst>
          </a:prstGeom>
          <a:solidFill>
            <a:srgbClr val="FFFFFF"/>
          </a:solidFill>
          <a:ln w="9525">
            <a:solidFill>
              <a:srgbClr val="FF704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13251" y="2192685"/>
            <a:ext cx="38100" cy="476994"/>
          </a:xfrm>
          <a:prstGeom prst="roundRect">
            <a:avLst>
              <a:gd name="adj" fmla="val 167442"/>
            </a:avLst>
          </a:prstGeom>
          <a:solidFill>
            <a:srgbClr val="FF7047"/>
          </a:solidFill>
          <a:ln/>
        </p:spPr>
      </p:sp>
      <p:sp>
        <p:nvSpPr>
          <p:cNvPr id="19" name="Text 16"/>
          <p:cNvSpPr/>
          <p:nvPr/>
        </p:nvSpPr>
        <p:spPr>
          <a:xfrm>
            <a:off x="5531718" y="2273052"/>
            <a:ext cx="135604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 &amp; Weight Regularization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5531718" y="2419201"/>
            <a:ext cx="1410072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Prevents overfitting and improves generalization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2126531" y="2762622"/>
            <a:ext cx="120744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Metrics &amp; Outputs</a:t>
            </a:r>
            <a:endParaRPr lang="en-US" sz="6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6531" y="2926482"/>
            <a:ext cx="177180" cy="1771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126531" y="3147938"/>
            <a:ext cx="10272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 &amp; Loss Graphs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2126531" y="3279874"/>
            <a:ext cx="2423294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Training &amp; validation accuracy/loss curves visualize convergence and detect overfitting</a:t>
            </a:r>
            <a:endParaRPr lang="en-US" sz="5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4101" y="2926482"/>
            <a:ext cx="177180" cy="1771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594101" y="314793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</a:t>
            </a:r>
            <a:endParaRPr lang="en-US" sz="650" dirty="0"/>
          </a:p>
        </p:txBody>
      </p:sp>
      <p:sp>
        <p:nvSpPr>
          <p:cNvPr id="27" name="Text 22"/>
          <p:cNvSpPr/>
          <p:nvPr/>
        </p:nvSpPr>
        <p:spPr>
          <a:xfrm>
            <a:off x="4594101" y="3279874"/>
            <a:ext cx="2423368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Class-wise prediction performance evaluated across all four tumor categories</a:t>
            </a:r>
            <a:endParaRPr lang="en-US" sz="5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26531" y="3520827"/>
            <a:ext cx="177180" cy="1771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126531" y="3742283"/>
            <a:ext cx="101530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+ Confidence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2126531" y="3874219"/>
            <a:ext cx="2423294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outputs predicted tumor type with confidence score (e.g., Glioma: 0.95)</a:t>
            </a:r>
            <a:endParaRPr lang="en-US" sz="5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94101" y="3520827"/>
            <a:ext cx="177180" cy="1771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94101" y="3742283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Report</a:t>
            </a:r>
            <a:endParaRPr lang="en-US" sz="650" dirty="0"/>
          </a:p>
        </p:txBody>
      </p:sp>
      <p:sp>
        <p:nvSpPr>
          <p:cNvPr id="33" name="Text 26"/>
          <p:cNvSpPr/>
          <p:nvPr/>
        </p:nvSpPr>
        <p:spPr>
          <a:xfrm>
            <a:off x="4594101" y="3874219"/>
            <a:ext cx="2423368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Includes Precision, Recall, Validation Accuracy, and full Classification Report</a:t>
            </a:r>
            <a:endParaRPr lang="en-US" sz="550" dirty="0"/>
          </a:p>
        </p:txBody>
      </p:sp>
      <p:sp>
        <p:nvSpPr>
          <p:cNvPr id="34" name="Text 27"/>
          <p:cNvSpPr/>
          <p:nvPr/>
        </p:nvSpPr>
        <p:spPr>
          <a:xfrm>
            <a:off x="2126531" y="4119563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Start</a:t>
            </a:r>
            <a:endParaRPr lang="en-US" sz="650" dirty="0"/>
          </a:p>
        </p:txBody>
      </p:sp>
      <p:sp>
        <p:nvSpPr>
          <p:cNvPr id="35" name="Text 28"/>
          <p:cNvSpPr/>
          <p:nvPr/>
        </p:nvSpPr>
        <p:spPr>
          <a:xfrm>
            <a:off x="2126531" y="4270102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550" dirty="0"/>
          </a:p>
        </p:txBody>
      </p:sp>
      <p:sp>
        <p:nvSpPr>
          <p:cNvPr id="36" name="Shape 29"/>
          <p:cNvSpPr/>
          <p:nvPr/>
        </p:nvSpPr>
        <p:spPr>
          <a:xfrm>
            <a:off x="2126531" y="4380979"/>
            <a:ext cx="2359000" cy="9525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37" name="Text 30"/>
          <p:cNvSpPr/>
          <p:nvPr/>
        </p:nvSpPr>
        <p:spPr>
          <a:xfrm>
            <a:off x="2126531" y="4435450"/>
            <a:ext cx="223279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 repo &amp; create conda environment (Python 3.10)</a:t>
            </a:r>
            <a:endParaRPr lang="en-US" sz="650" dirty="0"/>
          </a:p>
        </p:txBody>
      </p:sp>
      <p:sp>
        <p:nvSpPr>
          <p:cNvPr id="38" name="Text 31"/>
          <p:cNvSpPr/>
          <p:nvPr/>
        </p:nvSpPr>
        <p:spPr>
          <a:xfrm>
            <a:off x="2126531" y="4634731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550" dirty="0"/>
          </a:p>
        </p:txBody>
      </p:sp>
      <p:sp>
        <p:nvSpPr>
          <p:cNvPr id="39" name="Shape 32"/>
          <p:cNvSpPr/>
          <p:nvPr/>
        </p:nvSpPr>
        <p:spPr>
          <a:xfrm>
            <a:off x="2126531" y="4745608"/>
            <a:ext cx="2359000" cy="9525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40" name="Text 33"/>
          <p:cNvSpPr/>
          <p:nvPr/>
        </p:nvSpPr>
        <p:spPr>
          <a:xfrm>
            <a:off x="2126531" y="4800079"/>
            <a:ext cx="2359000" cy="221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dependencies: TensorFlow 2.10, OpenCV, NumPy, etc.</a:t>
            </a:r>
            <a:endParaRPr lang="en-US" sz="650" dirty="0"/>
          </a:p>
        </p:txBody>
      </p:sp>
      <p:sp>
        <p:nvSpPr>
          <p:cNvPr id="41" name="Text 34"/>
          <p:cNvSpPr/>
          <p:nvPr/>
        </p:nvSpPr>
        <p:spPr>
          <a:xfrm>
            <a:off x="2126531" y="5110088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550" dirty="0"/>
          </a:p>
        </p:txBody>
      </p:sp>
      <p:sp>
        <p:nvSpPr>
          <p:cNvPr id="42" name="Shape 35"/>
          <p:cNvSpPr/>
          <p:nvPr/>
        </p:nvSpPr>
        <p:spPr>
          <a:xfrm>
            <a:off x="2126531" y="5220965"/>
            <a:ext cx="2359000" cy="9525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43" name="Text 36"/>
          <p:cNvSpPr/>
          <p:nvPr/>
        </p:nvSpPr>
        <p:spPr>
          <a:xfrm>
            <a:off x="2126531" y="5275436"/>
            <a:ext cx="2256160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brain_tumor_detection.ipynb</a:t>
            </a:r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Jupyter Notebook</a:t>
            </a:r>
            <a:endParaRPr lang="en-US" sz="650" dirty="0"/>
          </a:p>
        </p:txBody>
      </p:sp>
      <p:sp>
        <p:nvSpPr>
          <p:cNvPr id="44" name="Text 37"/>
          <p:cNvSpPr/>
          <p:nvPr/>
        </p:nvSpPr>
        <p:spPr>
          <a:xfrm>
            <a:off x="2126531" y="5479479"/>
            <a:ext cx="141759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550" dirty="0"/>
          </a:p>
        </p:txBody>
      </p:sp>
      <p:sp>
        <p:nvSpPr>
          <p:cNvPr id="45" name="Shape 38"/>
          <p:cNvSpPr/>
          <p:nvPr/>
        </p:nvSpPr>
        <p:spPr>
          <a:xfrm>
            <a:off x="2126531" y="5590356"/>
            <a:ext cx="2359000" cy="9525"/>
          </a:xfrm>
          <a:prstGeom prst="rect">
            <a:avLst/>
          </a:prstGeom>
          <a:solidFill>
            <a:srgbClr val="FF7047"/>
          </a:solidFill>
          <a:ln/>
        </p:spPr>
      </p:sp>
      <p:sp>
        <p:nvSpPr>
          <p:cNvPr id="46" name="Text 39"/>
          <p:cNvSpPr/>
          <p:nvPr/>
        </p:nvSpPr>
        <p:spPr>
          <a:xfrm>
            <a:off x="2126531" y="5644828"/>
            <a:ext cx="221649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saved as </a:t>
            </a:r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Models/brain_tumor_model_V2.keras</a:t>
            </a:r>
            <a:endParaRPr lang="en-US" sz="650" dirty="0"/>
          </a:p>
        </p:txBody>
      </p:sp>
      <p:sp>
        <p:nvSpPr>
          <p:cNvPr id="47" name="Text 40"/>
          <p:cNvSpPr/>
          <p:nvPr/>
        </p:nvSpPr>
        <p:spPr>
          <a:xfrm>
            <a:off x="4663232" y="4119563"/>
            <a:ext cx="88627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Improvements</a:t>
            </a:r>
            <a:endParaRPr lang="en-US" sz="650" dirty="0"/>
          </a:p>
        </p:txBody>
      </p:sp>
      <p:sp>
        <p:nvSpPr>
          <p:cNvPr id="48" name="Text 41"/>
          <p:cNvSpPr/>
          <p:nvPr/>
        </p:nvSpPr>
        <p:spPr>
          <a:xfrm>
            <a:off x="4663232" y="4265712"/>
            <a:ext cx="2359000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Real-time Brain MRI Detection</a:t>
            </a:r>
            <a:endParaRPr lang="en-US" sz="550" dirty="0"/>
          </a:p>
          <a:p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 Application &amp; Mobile App Deployment</a:t>
            </a:r>
            <a:endParaRPr lang="en-US" sz="550" dirty="0"/>
          </a:p>
          <a:p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Grad-CAM Visualization</a:t>
            </a:r>
            <a:endParaRPr lang="en-US" sz="550" dirty="0"/>
          </a:p>
          <a:p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Medical Report Generation</a:t>
            </a:r>
            <a:endParaRPr lang="en-US" sz="550" dirty="0"/>
          </a:p>
          <a:p>
            <a:pPr algn="l" marL="342900" indent="-342900">
              <a:lnSpc>
                <a:spcPts val="650"/>
              </a:lnSpc>
              <a:buSzPct val="100000"/>
              <a:buChar char="•"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Edge Device Optimization</a:t>
            </a:r>
            <a:endParaRPr lang="en-US" sz="550" dirty="0"/>
          </a:p>
        </p:txBody>
      </p:sp>
      <p:sp>
        <p:nvSpPr>
          <p:cNvPr id="49" name="Shape 42"/>
          <p:cNvSpPr/>
          <p:nvPr/>
        </p:nvSpPr>
        <p:spPr>
          <a:xfrm>
            <a:off x="4663232" y="4780211"/>
            <a:ext cx="2359000" cy="290513"/>
          </a:xfrm>
          <a:prstGeom prst="roundRect">
            <a:avLst>
              <a:gd name="adj" fmla="val 21960"/>
            </a:avLst>
          </a:prstGeom>
          <a:solidFill>
            <a:srgbClr val="B6FCB8"/>
          </a:solidFill>
          <a:ln/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4074" y="4873451"/>
            <a:ext cx="88553" cy="70842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4893469" y="4833342"/>
            <a:ext cx="205792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Strong classification performance achieved on MRI datasets using DenseNet121 + advanced optimization techniques.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2026-05-15T04:46:26Z</dcterms:created>
  <dcterms:modified xsi:type="dcterms:W3CDTF">2026-05-15T04:46:26Z</dcterms:modified>
</cp:coreProperties>
</file>